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9436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49132"/>
                </a:solidFill>
                <a:latin typeface="Aptos"/>
              </a:defRPr>
            </a:pPr>
            <a:r>
              <a:t>SUB 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51560"/>
            <a:ext cx="6583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14233A"/>
                </a:solidFill>
                <a:latin typeface="Aptos Display"/>
              </a:defRPr>
            </a:pPr>
            <a:r>
              <a:t>HOUSE PRICE</a:t>
            </a:r>
            <a:br/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78608"/>
            <a:ext cx="5852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D5B6C"/>
                </a:solidFill>
                <a:latin typeface="Aptos"/>
              </a:defRPr>
            </a:pPr>
            <a:r>
              <a:t>Machine Learning Based Price Estimation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182112"/>
            <a:ext cx="5715000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429000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275396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419856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4233A"/>
                </a:solidFill>
                <a:latin typeface="Aptos"/>
              </a:defRPr>
            </a:pPr>
            <a:r>
              <a:t>MAHAMMADAYAN VHORA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785615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275396"/>
                </a:solidFill>
                <a:latin typeface="Aptos"/>
              </a:defRPr>
            </a:pPr>
            <a:r>
              <a:t>ROLL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776472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233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142231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275396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133087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233A"/>
                </a:solidFill>
                <a:latin typeface="Aptos"/>
              </a:defRPr>
            </a:pPr>
            <a:r>
              <a:t>M.Sc.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498847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275396"/>
                </a:solidFill>
                <a:latin typeface="Aptos"/>
              </a:defRPr>
            </a:pPr>
            <a:r>
              <a:t>COLLEGE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89703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233A"/>
                </a:solidFill>
                <a:latin typeface="Aptos"/>
              </a:defRPr>
            </a:pPr>
            <a:r>
              <a:t>C. P. Patel &amp; F. H. Shah Commerce College, Anand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855463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275396"/>
                </a:solidFill>
                <a:latin typeface="Aptos"/>
              </a:defRPr>
            </a:pPr>
            <a:r>
              <a:t>PROJECT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846319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4233A"/>
                </a:solidFill>
                <a:latin typeface="Aptos"/>
              </a:defRPr>
            </a:pPr>
            <a:r>
              <a:t>House Price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78992"/>
            <a:ext cx="4160520" cy="425196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366760" y="1691640"/>
            <a:ext cx="2057400" cy="1417320"/>
          </a:xfrm>
          <a:prstGeom prst="triangle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2743200"/>
            <a:ext cx="1600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3456432"/>
            <a:ext cx="420624" cy="704088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05672" y="3072384"/>
            <a:ext cx="365760" cy="36576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28632" y="3072384"/>
            <a:ext cx="365760" cy="36576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69880" y="3840480"/>
            <a:ext cx="128016" cy="3840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89336" y="3566160"/>
            <a:ext cx="128016" cy="658368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08792" y="3282696"/>
            <a:ext cx="128016" cy="941832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28248" y="2999232"/>
            <a:ext cx="128016" cy="1225296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773168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  •  MODEL  •  PREDICTION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complete story in one visual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74519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74519"/>
            <a:ext cx="50292" cy="1261872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029967"/>
            <a:ext cx="1737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95727"/>
            <a:ext cx="1664207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Problem &amp; purpose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874519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8144" y="1874519"/>
            <a:ext cx="50292" cy="1261872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2029967"/>
            <a:ext cx="1737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2395727"/>
            <a:ext cx="1664207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10,000 ×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874519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874519"/>
            <a:ext cx="50292" cy="1261872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029967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395727"/>
            <a:ext cx="1664208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EDA &amp; relationships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1874519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0848" y="1874519"/>
            <a:ext cx="50292" cy="1261872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029967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395727"/>
            <a:ext cx="1664208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Encoding &amp; split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502152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" y="3502152"/>
            <a:ext cx="50292" cy="1261872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6576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584" y="3657600"/>
            <a:ext cx="1737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3584" y="4023360"/>
            <a:ext cx="1664207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3 regressors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38144" y="3502152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38144" y="3502152"/>
            <a:ext cx="50292" cy="1261872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1024" y="36576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9936" y="3657600"/>
            <a:ext cx="1737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9936" y="4023360"/>
            <a:ext cx="1664207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MAE • RMSE • R²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3502152"/>
            <a:ext cx="254203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54496" y="3502152"/>
            <a:ext cx="50292" cy="1261872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36576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65760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4023360"/>
            <a:ext cx="1664208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₹209.43 Lakhs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33A"/>
                </a:solidFill>
                <a:latin typeface="Aptos"/>
              </a:defRPr>
            </a:pPr>
            <a:r>
              <a:t>RAW DATA  →  CLEANING  →  EDA  →  PREPROCESSING  →  MODELING  →  EVALUATION  → 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02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What is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A supervised-learning regression workflow for house-price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224028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25511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Property characteristics such as location, property type, BHK, size, amenities and distances.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74519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874519"/>
            <a:ext cx="50292" cy="224028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395727"/>
            <a:ext cx="25511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Regression models learn relationships between the prepared features and observed house prices.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874519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874519"/>
            <a:ext cx="50292" cy="224028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395727"/>
            <a:ext cx="25511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A predicted continuous value for the target variable: Price_in_Lakhs.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892040"/>
            <a:ext cx="5257800" cy="292608"/>
          </a:xfrm>
          <a:prstGeom prst="round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905755"/>
            <a:ext cx="5257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PROJECT ENDPOINT: FINAL HOUSE PRICE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03 •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Why was this project developed?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motivation behind converting property data into a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564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251460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26517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MULTI-FACTOR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2578607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House prices depend on several property characteristics simultaneously.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564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50292" cy="251460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029967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DATA-DRIVEN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395727"/>
            <a:ext cx="2578608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Machine learning can learn patterns from historical property observations.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874519"/>
            <a:ext cx="34564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874519"/>
            <a:ext cx="50292" cy="251460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029967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ACADEMIC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395727"/>
            <a:ext cx="2578608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Demonstrate a complete Data Science workflow from raw data to prediction.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737E8C"/>
                </a:solidFill>
                <a:latin typeface="Aptos"/>
              </a:defRPr>
            </a:pPr>
            <a:r>
              <a:t>The project is designed as an academic demonstration of the end-to-end regression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04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How can structured property data be used to estimate house prices?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6400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4233A"/>
                </a:solidFill>
                <a:latin typeface="Aptos Display"/>
              </a:defRPr>
            </a:pPr>
            <a:r>
              <a:t>How can multiple property features be transformed into a model-ready representation and used to estimate Price_in_Lakhs?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9202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920240"/>
            <a:ext cx="352044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32304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Price_in_Lakhs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310128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3310128"/>
            <a:ext cx="352044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93008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TEST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22191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2,000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700016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4700016"/>
            <a:ext cx="352044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88289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FINAL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212079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Predicted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05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What the implementation accomplishes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56231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56231"/>
            <a:ext cx="50292" cy="713232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11679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79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Understand the property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77439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217920" y="1856231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56231"/>
            <a:ext cx="50292" cy="713232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79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011679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Validate missing values and duplicates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377439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58368" y="2752344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752344"/>
            <a:ext cx="50292" cy="713232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07791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07791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Explore price patterns with visualizations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73551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6217920" y="2752344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752344"/>
            <a:ext cx="50292" cy="713232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1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907791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Separate numerical and categorical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273551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658368" y="3648456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48456"/>
            <a:ext cx="50292" cy="713232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80390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803904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Apply One-Hot Encoding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169663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6217920" y="3648456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648456"/>
            <a:ext cx="50292" cy="713232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80390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803904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Create an 80/20 train-test 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4169663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658368" y="4544568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544568"/>
            <a:ext cx="50292" cy="713232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470001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700016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Train Linear Regression, Decision Tree and Random Forest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065776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6217920" y="4544568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544568"/>
            <a:ext cx="50292" cy="713232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70001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4700016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Evaluate, compare and generate the final prediction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065776"/>
            <a:ext cx="4288536" cy="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06 •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Focused on analysis, machine learning and final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5643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297180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26517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2578607" cy="2313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Dataset loading</a:t>
            </a:r>
            <a:br/>
            <a:r>
              <a:t>Data quality checks</a:t>
            </a:r>
            <a:br/>
            <a:r>
              <a:t>EDA</a:t>
            </a:r>
            <a:br/>
            <a:r>
              <a:t>Preprocessing</a:t>
            </a:r>
            <a:br/>
            <a:r>
              <a:t>Model training</a:t>
            </a:r>
            <a:br/>
            <a:r>
              <a:t>Evaluation</a:t>
            </a:r>
            <a:br/>
            <a:r>
              <a:t>Final 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5643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50292" cy="297180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029967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395727"/>
            <a:ext cx="2578608" cy="2313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Notebook execution</a:t>
            </a:r>
            <a:br/>
            <a:r>
              <a:t>Dataset statistics</a:t>
            </a:r>
            <a:br/>
            <a:r>
              <a:t>Graphs</a:t>
            </a:r>
            <a:br/>
            <a:r>
              <a:t>Model metrics</a:t>
            </a:r>
            <a:br/>
            <a:r>
              <a:t>22 screenshots</a:t>
            </a:r>
            <a:br/>
            <a:r>
              <a:t>Final prediction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874519"/>
            <a:ext cx="345643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874519"/>
            <a:ext cx="50292" cy="297180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029967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395727"/>
            <a:ext cx="2578608" cy="2313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The academic presentation ends at the final house-price prediction.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5285232"/>
            <a:ext cx="4023360" cy="292608"/>
          </a:xfrm>
          <a:prstGeom prst="round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2" y="5298948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REPORT-FIRST • PROOF-OF-WORK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07 •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Project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What the completed workflow provides within its documented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132588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DATA-DRIVEN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4288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Uses multiple property attributes together instead of relying on one factor.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74519"/>
            <a:ext cx="50292" cy="132588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029967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STRUCTURED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395727"/>
            <a:ext cx="4288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Transforms raw data into a model-ready representation.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38728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38728"/>
            <a:ext cx="50292" cy="132588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9417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94176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MEASURABLE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59936"/>
            <a:ext cx="4288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Compares models using MAE, RMSE and R².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38728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38728"/>
            <a:ext cx="50292" cy="1325880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9417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694176"/>
            <a:ext cx="4361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PREDICTIVE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059936"/>
            <a:ext cx="4288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Produces a final price estimate for a specified property.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13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737E8C"/>
                </a:solidFill>
                <a:latin typeface="Aptos"/>
              </a:defRPr>
            </a:pPr>
            <a:r>
              <a:t>Benefits are described within the demonstrated project scope; the model output is an estimate, not a guaranteed market price.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08 •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Libraries and tools evidenced in the project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12984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1737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16642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874519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874519"/>
            <a:ext cx="50292" cy="1298448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2029967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1" y="2395727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874519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874519"/>
            <a:ext cx="50292" cy="1298448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2029967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2395727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Numerical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874519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7424" y="1874519"/>
            <a:ext cx="50292" cy="1298448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216" y="2029967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2395727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566160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566160"/>
            <a:ext cx="50292" cy="12984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72160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21608"/>
            <a:ext cx="1737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Seaborn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087368"/>
            <a:ext cx="16642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Statistical graphics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3566160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0" y="3566160"/>
            <a:ext cx="50292" cy="1298448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372160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511" y="372160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6511" y="4087368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ML + preprocessing +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3566160"/>
            <a:ext cx="254203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3566160"/>
            <a:ext cx="50292" cy="1298448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72160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2864" y="372160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Joblib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2864" y="4087368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Model persistence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09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Seven stages connect the raw dataset to the final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50292" cy="14173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852927"/>
            <a:ext cx="548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929384" y="2761488"/>
            <a:ext cx="210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37E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8840" y="2331720"/>
            <a:ext cx="50292" cy="14173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2852927"/>
            <a:ext cx="548639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75304" y="2761488"/>
            <a:ext cx="210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37E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2331720"/>
            <a:ext cx="50292" cy="14173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2852927"/>
            <a:ext cx="548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221224" y="2761488"/>
            <a:ext cx="210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37E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40680" y="2331720"/>
            <a:ext cx="50292" cy="1417320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2852927"/>
            <a:ext cx="548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867144" y="2761488"/>
            <a:ext cx="210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37E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2331720"/>
            <a:ext cx="50292" cy="14173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8392" y="2852927"/>
            <a:ext cx="548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513064" y="2761488"/>
            <a:ext cx="210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37E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32520" y="2331720"/>
            <a:ext cx="50292" cy="14173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2852927"/>
            <a:ext cx="548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10158984" y="2761488"/>
            <a:ext cx="210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37E8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8440" y="2331720"/>
            <a:ext cx="142646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78440" y="2331720"/>
            <a:ext cx="50292" cy="14173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61320" y="248716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0232" y="2487168"/>
            <a:ext cx="621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0232" y="2852927"/>
            <a:ext cx="5486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1463040" y="4892040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RAW DATA  →  INSIGHT  →  MODEL  →  EVIDENCE  → 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10 •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Verified from the uploaded CSV and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2316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40864"/>
            <a:ext cx="2057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8288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828800"/>
            <a:ext cx="242316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0116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340864"/>
            <a:ext cx="2057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8288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1888" y="1828800"/>
            <a:ext cx="242316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340864"/>
            <a:ext cx="2057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Price_in_Lakhs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13648" y="18288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13648" y="1828800"/>
            <a:ext cx="2423160" cy="45720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20116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340864"/>
            <a:ext cx="2057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401568"/>
            <a:ext cx="513892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401568"/>
            <a:ext cx="50292" cy="173736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55701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557016"/>
            <a:ext cx="4334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NUMERICAL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922776"/>
            <a:ext cx="426110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Property_ID • BHK • Bathrooms • Balconies • Size_in_SqFt • Floor_No • Age_of_Property • distance features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401568"/>
            <a:ext cx="513892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401568"/>
            <a:ext cx="50292" cy="173736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55701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557016"/>
            <a:ext cx="4334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CATEGORICAL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3922776"/>
            <a:ext cx="426110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State • City • Locality • Property_Type • Parking • Furnished_Status • Facing and other categorical fields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11 • PROOF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Raw Dataset — Code Execution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Loading the CSV and inspecting the first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754380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05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" y="2852400"/>
            <a:ext cx="7434072" cy="2140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69864"/>
            <a:ext cx="7360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02 • Dataset loading + df.head()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2971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828800"/>
            <a:ext cx="50292" cy="1261872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8424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984248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350008"/>
            <a:ext cx="2093976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pd.read_csv(...)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310128"/>
            <a:ext cx="2971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3310128"/>
            <a:ext cx="50292" cy="1261872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46557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465576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3831336"/>
            <a:ext cx="2093976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First records displayed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791456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4791456"/>
            <a:ext cx="50292" cy="1024128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94690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4946904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PROVES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5312664"/>
            <a:ext cx="2093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Dataset successfully loaded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12 • PROOF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Dataset Structure &amp; Statistical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notebook inspects shape, data types and numerical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44068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059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40" y="1883664"/>
            <a:ext cx="3053518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69864"/>
            <a:ext cx="5257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03 • df.info()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44068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9-19 1059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3268507"/>
            <a:ext cx="5330952" cy="1308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769864"/>
            <a:ext cx="5257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04 • df.describe()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13 •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Quality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Checking the dataset before analysis and model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726948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94" y="1883664"/>
            <a:ext cx="2760010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69864"/>
            <a:ext cx="7086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05 • Missing values + duplicate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01952"/>
            <a:ext cx="32461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901952"/>
            <a:ext cx="324612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8483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414016"/>
            <a:ext cx="28803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410712"/>
            <a:ext cx="32461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3410712"/>
            <a:ext cx="324612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59359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922776"/>
            <a:ext cx="28803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4919472"/>
            <a:ext cx="32461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4919472"/>
            <a:ext cx="50292" cy="1024128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507492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5074920"/>
            <a:ext cx="2441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4" y="5440680"/>
            <a:ext cx="23682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Quality checks executed successfully.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14 •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Price Distribution &amp; City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Exploring the target and location-level price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5468112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44814"/>
            <a:ext cx="5358384" cy="27559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52852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06 • Price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5468112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9-19 1101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756" y="1883664"/>
            <a:ext cx="5122711" cy="4078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4496" y="5769864"/>
            <a:ext cx="52852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07 • Average price by 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15 •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Property 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BHK, size and parking relationships with house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361188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1" y="2132023"/>
            <a:ext cx="3502152" cy="35815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3429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08 • BHK vs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9-19 110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121839"/>
            <a:ext cx="3547872" cy="36018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5769864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09 • Size vs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828800"/>
            <a:ext cx="342900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shot 2026-09-19 1101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997814"/>
            <a:ext cx="3319272" cy="38499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11312" y="5769864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10 • Parking vs price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16 •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A numerical relationship map for feature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763524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897" y="1883664"/>
            <a:ext cx="5039301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7452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11 • Correlation heatmap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8288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1828800"/>
            <a:ext cx="297180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011680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SIZE →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340864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≈ 0.49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2004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3200400"/>
            <a:ext cx="297180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383280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BHK →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12464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≈ 0.43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45720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4572000"/>
            <a:ext cx="297180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4754880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BATHROOMS →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084064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≈ 0.42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17 •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Feature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Inputs are separated into numerical and categorical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2900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27889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2551176" cy="2130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Price_in_Lakhs</a:t>
            </a:r>
            <a:br/>
            <a:br/>
            <a:r>
              <a:t>Continuous value the model learns to predict.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74519"/>
            <a:ext cx="342900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874519"/>
            <a:ext cx="50292" cy="27889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NUMERICAL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395727"/>
            <a:ext cx="2551176" cy="2130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BHK • Bathrooms • Balconies</a:t>
            </a:r>
            <a:br/>
            <a:r>
              <a:t>Size_in_SqFt • Floor_No</a:t>
            </a:r>
            <a:br/>
            <a:r>
              <a:t>Age • Distance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874519"/>
            <a:ext cx="342900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874519"/>
            <a:ext cx="50292" cy="27889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CATEGORICAL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395727"/>
            <a:ext cx="2551176" cy="2130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State • City • Locality</a:t>
            </a:r>
            <a:br/>
            <a:r>
              <a:t>Property_Type • Parking</a:t>
            </a:r>
            <a:br/>
            <a:r>
              <a:t>Furnished_Status • Facing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18 •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One-Hot Encoding &amp; Train-Test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Preparing categorical data and separating training from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745236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78" y="1883664"/>
            <a:ext cx="5077859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7269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12 • Encoding + split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28800"/>
            <a:ext cx="3154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828800"/>
            <a:ext cx="315468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11680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ENCODED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40864"/>
            <a:ext cx="2788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273552"/>
            <a:ext cx="3154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273552"/>
            <a:ext cx="315468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456432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85616"/>
            <a:ext cx="2788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8,000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718304"/>
            <a:ext cx="3154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718304"/>
            <a:ext cx="315468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901184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30368"/>
            <a:ext cx="2788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2,000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19 • PROOF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Encoded Model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transformed matrices are inspected before model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7726679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2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569" y="1883664"/>
            <a:ext cx="3379397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7543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13 • Encoded train/test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828800"/>
            <a:ext cx="2880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1828800"/>
            <a:ext cx="50292" cy="123444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19" y="198424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1984248"/>
            <a:ext cx="2075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350008"/>
            <a:ext cx="200253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Categorical text must be represented numerically.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273552"/>
            <a:ext cx="2880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9640" y="3273552"/>
            <a:ext cx="50292" cy="123444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342900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429000"/>
            <a:ext cx="2075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794760"/>
            <a:ext cx="200253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147 transformed feature columns.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4718304"/>
            <a:ext cx="2880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4718304"/>
            <a:ext cx="50292" cy="1188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19" y="4873752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4873752"/>
            <a:ext cx="20756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5239512"/>
            <a:ext cx="20025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Regression model training.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20 •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Regression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documented comparison evaluates three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251460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7"/>
            <a:ext cx="2551176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A linear baseline for continuous price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74519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874519"/>
            <a:ext cx="50292" cy="251460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395727"/>
            <a:ext cx="2551176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Learns rule-based splits for regression.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874519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874519"/>
            <a:ext cx="50292" cy="251460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2029967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2029967"/>
            <a:ext cx="2624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395727"/>
            <a:ext cx="2551176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Combines multiple decision trees as an ensemble.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737E8C"/>
                </a:solidFill>
                <a:latin typeface="Aptos"/>
              </a:defRPr>
            </a:pPr>
            <a:r>
              <a:t>Gradient Boosting and Extra Trees appear in the import cell, but are not part of the documented three-model comparison.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21 • PROOF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Linear Regression — Training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notebook confirms successful model fitting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745236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53" y="1883664"/>
            <a:ext cx="4918373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69864"/>
            <a:ext cx="7269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18 • Linear Regression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28800"/>
            <a:ext cx="3154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828800"/>
            <a:ext cx="315468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11680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40864"/>
            <a:ext cx="2788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273552"/>
            <a:ext cx="3154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273552"/>
            <a:ext cx="315468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456432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TEST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85616"/>
            <a:ext cx="2788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GENERATED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718304"/>
            <a:ext cx="3154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718304"/>
            <a:ext cx="50292" cy="1188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873752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4873752"/>
            <a:ext cx="23500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NEXT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5239512"/>
            <a:ext cx="22768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Evaluate prediction 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22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Actual values from the notebook's three-model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333756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LINEAR REGRESSION •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40864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0.987541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1828800"/>
            <a:ext cx="333756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011680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DECISION TREE •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40864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0.825619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828800"/>
            <a:ext cx="333756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11680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RANDOM FOREST •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340864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0.922218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566160"/>
            <a:ext cx="333756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749039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LINEAR • 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078224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7.483221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25696" y="3566160"/>
            <a:ext cx="333756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749039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TREE • MAE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4078224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25.132585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4" y="3566160"/>
            <a:ext cx="333756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3749039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FOREST • MAE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078224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17.022721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102352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102352"/>
            <a:ext cx="333756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285232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LINEAR • RMSE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5614416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8.722437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5696" y="5102352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25696" y="5102352"/>
            <a:ext cx="333756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5285232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TREE • RMSE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8576" y="5614416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32.631679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4" y="5102352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5102352"/>
            <a:ext cx="333756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75904" y="5285232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FOREST • RMSE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614416"/>
            <a:ext cx="2971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21.793527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23 •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MAE, RMSE and R² are compared on the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4617720" cy="502920"/>
          </a:xfrm>
          <a:prstGeom prst="round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75104"/>
            <a:ext cx="4617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67528" y="1828800"/>
            <a:ext cx="1965960" cy="502920"/>
          </a:xfrm>
          <a:prstGeom prst="round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1975104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828800"/>
            <a:ext cx="1965960" cy="502920"/>
          </a:xfrm>
          <a:prstGeom prst="round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1975104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1828800"/>
            <a:ext cx="1965960" cy="502920"/>
          </a:xfrm>
          <a:prstGeom prst="round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975104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R²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432304"/>
            <a:ext cx="4617720" cy="640080"/>
          </a:xfrm>
          <a:prstGeom prst="roundRect">
            <a:avLst/>
          </a:prstGeom>
          <a:solidFill>
            <a:srgbClr val="E8EFF9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615184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4233A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67528" y="2432304"/>
            <a:ext cx="1965960" cy="640080"/>
          </a:xfrm>
          <a:prstGeom prst="roundRect">
            <a:avLst/>
          </a:prstGeom>
          <a:solidFill>
            <a:srgbClr val="E8EFF9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26151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7.483221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2432304"/>
            <a:ext cx="1965960" cy="640080"/>
          </a:xfrm>
          <a:prstGeom prst="roundRect">
            <a:avLst/>
          </a:prstGeom>
          <a:solidFill>
            <a:srgbClr val="E8EFF9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26151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8.722437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9448" y="2432304"/>
            <a:ext cx="1965960" cy="640080"/>
          </a:xfrm>
          <a:prstGeom prst="roundRect">
            <a:avLst/>
          </a:prstGeom>
          <a:solidFill>
            <a:srgbClr val="E8EFF9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6151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F8782"/>
                </a:solidFill>
                <a:latin typeface="Aptos"/>
              </a:defRPr>
            </a:pPr>
            <a:r>
              <a:t>0.987541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182112"/>
            <a:ext cx="4617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364992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4233A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7528" y="3182112"/>
            <a:ext cx="1965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7528" y="33649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25.132585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3182112"/>
            <a:ext cx="1965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33488" y="33649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32.631679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9448" y="3182112"/>
            <a:ext cx="1965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33649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0.825619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931920"/>
            <a:ext cx="4617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114800"/>
            <a:ext cx="4617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4233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67528" y="3931920"/>
            <a:ext cx="1965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411480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17.022721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33488" y="3931920"/>
            <a:ext cx="1965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488" y="411480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21.793527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9448" y="3931920"/>
            <a:ext cx="1965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9448" y="411480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4D5B6C"/>
                </a:solidFill>
                <a:latin typeface="Aptos"/>
              </a:defRPr>
            </a:pPr>
            <a:r>
              <a:t>0.922218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4892040"/>
            <a:ext cx="10561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8" y="4892040"/>
            <a:ext cx="50292" cy="9601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04748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047488"/>
            <a:ext cx="9756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DOCUMENTED RESULT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413248"/>
            <a:ext cx="9683496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Linear Regression has the highest R² and the lowest MAE and RMSE in the three-model comparison shown in the notebook.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24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Actual vs Predicted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Record-level evidence of model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754380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252" y="1883664"/>
            <a:ext cx="3747150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7360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19 • Actual vs Predicted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2971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828800"/>
            <a:ext cx="50292" cy="1261872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8424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984248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350008"/>
            <a:ext cx="2093976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Observed and predicted values are shown side-by-side.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310128"/>
            <a:ext cx="29718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3310128"/>
            <a:ext cx="50292" cy="1261872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46557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465576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3831336"/>
            <a:ext cx="2093976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Makes individual prediction differences visible.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791456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4791456"/>
            <a:ext cx="50292" cy="1024128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94690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4946904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5312664"/>
            <a:ext cx="2093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Notebook output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25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Prediction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Two visual checks of actual versus predicted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55321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0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25" y="1883664"/>
            <a:ext cx="4990125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5349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20 • Actual vs Predicted line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28800"/>
            <a:ext cx="525780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9-19 1103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516" y="1883664"/>
            <a:ext cx="4032910" cy="4078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5769864"/>
            <a:ext cx="5074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21 • Actual vs Predicted scatter plot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26 •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Final Model &amp; Model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documented best-performing model is saved for reuse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722376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3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76" y="1883664"/>
            <a:ext cx="4150463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7040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17 • Best model saved successfully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82880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828800"/>
            <a:ext cx="3246120" cy="457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011680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340864"/>
            <a:ext cx="28803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24612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3246120"/>
            <a:ext cx="324612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429000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MODEL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758183"/>
            <a:ext cx="28803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house_price_model.pkl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46634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4663440"/>
            <a:ext cx="3246120" cy="457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4846320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PREPROCESSOR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5175504"/>
            <a:ext cx="28803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preprocessor.pkl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27 • FINAL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Final House 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The academic project reaches its final output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7132320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19 115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13" y="1883664"/>
            <a:ext cx="3294748" cy="4078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69864"/>
            <a:ext cx="6949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0">
                <a:solidFill>
                  <a:srgbClr val="737E8C"/>
                </a:solidFill>
                <a:latin typeface="Aptos"/>
              </a:defRPr>
            </a:pPr>
            <a:r>
              <a:t>Screenshot 22 • Final prediction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2880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828800"/>
            <a:ext cx="3566160" cy="457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1168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737E8C"/>
                </a:solidFill>
                <a:latin typeface="Aptos"/>
              </a:defRPr>
            </a:pPr>
            <a:r>
              <a:t>PREDICTED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340864"/>
            <a:ext cx="3200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233A"/>
                </a:solidFill>
                <a:latin typeface="Aptos"/>
              </a:defRPr>
            </a:pPr>
            <a:r>
              <a:t>₹ 209.43 Lakhs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3493008"/>
            <a:ext cx="3566160" cy="2523744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3493008"/>
            <a:ext cx="50292" cy="2523744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364845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48456"/>
            <a:ext cx="2761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PROPERTY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014215"/>
            <a:ext cx="2688336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Gujarat • Ahmedabad</a:t>
            </a:r>
            <a:br/>
            <a:r>
              <a:t>Satellite • Apartment</a:t>
            </a:r>
            <a:br/>
            <a:r>
              <a:t>3 BHK • 2 Bathrooms</a:t>
            </a:r>
            <a:br/>
            <a:r>
              <a:t>1,500 Sq.Ft. • Semi-Furnished</a:t>
            </a:r>
            <a:br/>
            <a:r>
              <a:t>Parking: Yes • Age: 5 Years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28 •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88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37E8C"/>
                </a:solidFill>
                <a:latin typeface="Aptos"/>
              </a:defRPr>
            </a:pPr>
            <a:r>
              <a:t>A balanced view of the current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36776"/>
            <a:ext cx="749808" cy="41148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7E8C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2303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50292" cy="3520440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84248"/>
            <a:ext cx="4425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50008"/>
            <a:ext cx="4352544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• Prediction depends on the available dataset and features.</a:t>
            </a:r>
            <a:br/>
            <a:r>
              <a:t>• Historical patterns may not capture every real-world market factor.</a:t>
            </a:r>
            <a:br/>
            <a:r>
              <a:t>• A model estimate is not a guaranteed transaction price.</a:t>
            </a:r>
            <a:br/>
            <a:r>
              <a:t>• Performance is measured on the project's evaluated test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28800"/>
            <a:ext cx="52303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828800"/>
            <a:ext cx="50292" cy="352044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8424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84248"/>
            <a:ext cx="4425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50008"/>
            <a:ext cx="4352544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• Add richer real-world property and location data.</a:t>
            </a:r>
            <a:br/>
            <a:r>
              <a:t>• Expand feature coverage.</a:t>
            </a:r>
            <a:br/>
            <a:r>
              <a:t>• Experiment with additional validated regression methods.</a:t>
            </a:r>
            <a:br/>
            <a:r>
              <a:t>• Re-evaluate models on broader and newer datasets.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5396"/>
                </a:solidFill>
                <a:latin typeface="Aptos"/>
              </a:defRPr>
            </a:pPr>
            <a:r>
              <a:t>29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233A"/>
                </a:solidFill>
                <a:latin typeface="Aptos Display"/>
              </a:defRPr>
            </a:pPr>
            <a:r>
              <a:t>From Data → Model → Evidence →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37E8C"/>
                </a:solidFill>
                <a:latin typeface="Aptos"/>
              </a:defRPr>
            </a:pPr>
            <a:r>
              <a:t>A complete academic machine-learning workflow for house-price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6642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50292" cy="14173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243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624328"/>
            <a:ext cx="859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990088"/>
            <a:ext cx="78638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10,000 ×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468880"/>
            <a:ext cx="16642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2468880"/>
            <a:ext cx="50292" cy="14173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6243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624328"/>
            <a:ext cx="859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990088"/>
            <a:ext cx="78638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0 missing • 0 duplicate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68880"/>
            <a:ext cx="16642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468880"/>
            <a:ext cx="50292" cy="1417320"/>
          </a:xfrm>
          <a:prstGeom prst="rect">
            <a:avLst/>
          </a:prstGeom>
          <a:solidFill>
            <a:srgbClr val="C4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243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913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624328"/>
            <a:ext cx="859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990088"/>
            <a:ext cx="78638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147 encoded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468880"/>
            <a:ext cx="16642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68880"/>
            <a:ext cx="50292" cy="1417320"/>
          </a:xfrm>
          <a:prstGeom prst="rect">
            <a:avLst/>
          </a:prstGeom>
          <a:solidFill>
            <a:srgbClr val="CD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6243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D5B4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1" y="2624328"/>
            <a:ext cx="859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2990088"/>
            <a:ext cx="78638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3 evaluated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2468880"/>
            <a:ext cx="16642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2468880"/>
            <a:ext cx="50292" cy="1417320"/>
          </a:xfrm>
          <a:prstGeom prst="rect">
            <a:avLst/>
          </a:prstGeom>
          <a:solidFill>
            <a:srgbClr val="27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26243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39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1" y="2624328"/>
            <a:ext cx="859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1" y="2990088"/>
            <a:ext cx="78638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0.987541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2468880"/>
            <a:ext cx="16642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12680" y="2468880"/>
            <a:ext cx="50292" cy="1417320"/>
          </a:xfrm>
          <a:prstGeom prst="rect">
            <a:avLst/>
          </a:prstGeom>
          <a:solidFill>
            <a:srgbClr val="1F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59" y="26243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87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34472" y="2624328"/>
            <a:ext cx="859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23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472" y="2990088"/>
            <a:ext cx="78638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D5B6C"/>
                </a:solidFill>
                <a:latin typeface="Aptos"/>
              </a:defRPr>
            </a:pPr>
            <a:r>
              <a:t>₹209.43 Lakhs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33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534924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4D5B6C"/>
                </a:solidFill>
                <a:latin typeface="Aptos"/>
              </a:defRPr>
            </a:pPr>
            <a:r>
              <a:t>MAHAMMADAYAN VHORA  •  Roll No. 04  •  M.Sc. Data Science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5212080"/>
            <a:ext cx="2971800" cy="292608"/>
          </a:xfrm>
          <a:prstGeom prst="round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225796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HOUSE PRICE PREDICTION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18520" cy="10972"/>
          </a:xfrm>
          <a:prstGeom prst="rect">
            <a:avLst/>
          </a:prstGeom>
          <a:solidFill>
            <a:srgbClr val="DA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6464808"/>
            <a:ext cx="8686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737E8C"/>
                </a:solidFill>
                <a:latin typeface="Aptos"/>
              </a:defRPr>
            </a:pPr>
            <a:r>
              <a:t>HOUSE PRICE PREDICTION  •  MAHAMMADAYAN VHORA  •  M.Sc.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